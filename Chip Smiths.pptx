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5" r:id="rId9"/>
    <p:sldId id="262" r:id="rId10"/>
    <p:sldId id="263" r:id="rId11"/>
  </p:sldIdLst>
  <p:sldSz cx="18288000" cy="10287000"/>
  <p:notesSz cx="6858000" cy="9144000"/>
  <p:embeddedFontLst>
    <p:embeddedFont>
      <p:font typeface="Horizon" panose="020B0604020202020204" charset="0"/>
      <p:regular r:id="rId12"/>
    </p:embeddedFont>
    <p:embeddedFont>
      <p:font typeface="Times New Roman MT" panose="020B0604020202020204" charset="0"/>
      <p:regular r:id="rId13"/>
    </p:embeddedFont>
    <p:embeddedFont>
      <p:font typeface="Times New Roman MT Bold" panose="020B0604020202020204" charset="0"/>
      <p:regular r:id="rId14"/>
    </p:embeddedFont>
    <p:embeddedFont>
      <p:font typeface="TS Qamus Bold" panose="020B0604020202020204" charset="-78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362341" y="2362123"/>
            <a:ext cx="6473404" cy="6759319"/>
          </a:xfrm>
          <a:custGeom>
            <a:avLst/>
            <a:gdLst/>
            <a:ahLst/>
            <a:cxnLst/>
            <a:rect l="l" t="t" r="r" b="b"/>
            <a:pathLst>
              <a:path w="6473404" h="6759319">
                <a:moveTo>
                  <a:pt x="0" y="0"/>
                </a:moveTo>
                <a:lnTo>
                  <a:pt x="6473403" y="0"/>
                </a:lnTo>
                <a:lnTo>
                  <a:pt x="6473403" y="6759319"/>
                </a:lnTo>
                <a:lnTo>
                  <a:pt x="0" y="6759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376346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0" y="0"/>
                </a:moveTo>
                <a:lnTo>
                  <a:pt x="1981152" y="0"/>
                </a:lnTo>
                <a:lnTo>
                  <a:pt x="1981152" y="2331116"/>
                </a:lnTo>
                <a:lnTo>
                  <a:pt x="0" y="23311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243814" y="1910177"/>
            <a:ext cx="6993421" cy="1253616"/>
          </a:xfrm>
          <a:custGeom>
            <a:avLst/>
            <a:gdLst/>
            <a:ahLst/>
            <a:cxnLst/>
            <a:rect l="l" t="t" r="r" b="b"/>
            <a:pathLst>
              <a:path w="6993421" h="1253616">
                <a:moveTo>
                  <a:pt x="0" y="0"/>
                </a:moveTo>
                <a:lnTo>
                  <a:pt x="6993421" y="0"/>
                </a:lnTo>
                <a:lnTo>
                  <a:pt x="6993421" y="1253616"/>
                </a:lnTo>
                <a:lnTo>
                  <a:pt x="0" y="1253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1110" b="-3484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5366" y="5245130"/>
            <a:ext cx="7352234" cy="65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73"/>
              </a:lnSpc>
            </a:pPr>
            <a:r>
              <a:rPr lang="en-US" sz="3838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PROBELM </a:t>
            </a:r>
            <a:r>
              <a:rPr lang="en-US" sz="32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STATEMENT</a:t>
            </a:r>
            <a:r>
              <a:rPr lang="en-US" sz="3838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NO : 11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4AE84B-C031-613D-234F-D92E113FADAD}"/>
              </a:ext>
            </a:extLst>
          </p:cNvPr>
          <p:cNvSpPr txBox="1"/>
          <p:nvPr/>
        </p:nvSpPr>
        <p:spPr>
          <a:xfrm>
            <a:off x="286724" y="6377482"/>
            <a:ext cx="18001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Weight Pruning and Run-Length Encoding Engine for Edge NPU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DFF0E3-D15A-0E84-05D2-53D07CB35727}"/>
              </a:ext>
            </a:extLst>
          </p:cNvPr>
          <p:cNvSpPr txBox="1"/>
          <p:nvPr/>
        </p:nvSpPr>
        <p:spPr>
          <a:xfrm>
            <a:off x="327546" y="4435522"/>
            <a:ext cx="52918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 Chip Smiths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574438-E1F6-3B2F-F767-1608A830E692}"/>
              </a:ext>
            </a:extLst>
          </p:cNvPr>
          <p:cNvSpPr txBox="1"/>
          <p:nvPr/>
        </p:nvSpPr>
        <p:spPr>
          <a:xfrm>
            <a:off x="420486" y="7050528"/>
            <a:ext cx="6367449" cy="1442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PS Category - Edge AI / </a:t>
            </a:r>
            <a:r>
              <a:rPr lang="en-US" sz="3200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TinyML</a:t>
            </a:r>
            <a:r>
              <a:rPr lang="en-US" sz="32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</a:t>
            </a:r>
          </a:p>
          <a:p>
            <a:pPr algn="ctr">
              <a:lnSpc>
                <a:spcPts val="5467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188308"/>
            <a:ext cx="16878300" cy="4737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Real-world problem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Edge AI models require large memory and computation, making deployment on resource-constrained devices difficult.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Why it matters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Reducing model size and computation enables faster, more efficient, and low-memory AI inference on edge devices.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Current challenges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Neural networks contain many redundant weights, while conventional storage and computation still process these unnecessary values.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7279"/>
              </a:lnSpc>
            </a:pPr>
            <a:endParaRPr 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Canva Sans Bold"/>
              <a:cs typeface="Times New Roman" panose="02020603050405020304" pitchFamily="18" charset="0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02917" y="3259742"/>
            <a:ext cx="8820181" cy="69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2"/>
              </a:lnSpc>
            </a:pPr>
            <a:r>
              <a:rPr lang="en-US" sz="3994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Problem Statement</a:t>
            </a:r>
          </a:p>
        </p:txBody>
      </p:sp>
      <p:sp>
        <p:nvSpPr>
          <p:cNvPr id="8" name="Freeform 8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6316373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723" t="-76170" r="-689472" b="-8556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02917" y="3001780"/>
            <a:ext cx="17208883" cy="6564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4913" dirty="0" err="1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yOur</a:t>
            </a:r>
            <a:r>
              <a:rPr lang="en-US" sz="4913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 Solution</a:t>
            </a:r>
          </a:p>
          <a:p>
            <a:pPr marL="1104087" lvl="1" indent="-552044">
              <a:lnSpc>
                <a:spcPts val="7159"/>
              </a:lnSpc>
              <a:buFont typeface="Arial"/>
              <a:buChar char="•"/>
            </a:pPr>
            <a:r>
              <a:rPr lang="en-US" sz="3200" b="1" u="sng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name </a:t>
            </a:r>
            <a:r>
              <a:rPr lang="en-US" sz="32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Sparse Weight Pruning and Run-Length Encoding Engine for Edge NPU </a:t>
            </a:r>
          </a:p>
          <a:p>
            <a:pPr marL="1104087" lvl="1" indent="-552044">
              <a:buFont typeface="Arial"/>
              <a:buChar char="•"/>
            </a:pPr>
            <a:r>
              <a:rPr lang="en-US" sz="3200" b="1" u="sng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One-line solution </a:t>
            </a:r>
            <a:r>
              <a:rPr lang="en-US" sz="32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</a:t>
            </a:r>
            <a:r>
              <a:rPr lang="en-IN" sz="3200" b="1" dirty="0"/>
              <a:t>“Prune unnecessary neural-network weights and compress the remaining sparse weights using Run-Length Encoding to reduce memory and computation during edge inference.”</a:t>
            </a:r>
            <a:r>
              <a:rPr lang="en-US" sz="32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  <a:p>
            <a:pPr marL="1104087" lvl="1" indent="-552044">
              <a:lnSpc>
                <a:spcPct val="100000"/>
              </a:lnSpc>
              <a:buFont typeface="Arial"/>
              <a:buChar char="•"/>
            </a:pPr>
            <a:r>
              <a:rPr lang="en-US" sz="3200" b="1" u="sng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it solves the problem </a:t>
            </a:r>
            <a:r>
              <a:rPr lang="en-US" sz="32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</a:t>
            </a:r>
            <a:r>
              <a:rPr lang="en-IN" sz="3200" b="1" dirty="0"/>
              <a:t>“It solves the problem by removing redundant weights, encoding the resulting sparse data efficiently, and reducing the workload required for neural-network inference.”</a:t>
            </a:r>
            <a:endParaRPr lang="en-IN" sz="3200" dirty="0"/>
          </a:p>
          <a:p>
            <a:pPr marL="1104087" lvl="1" indent="-552044" algn="l">
              <a:lnSpc>
                <a:spcPts val="7159"/>
              </a:lnSpc>
              <a:buFont typeface="Arial"/>
              <a:buChar char="•"/>
            </a:pPr>
            <a:endParaRPr lang="en-US" sz="320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7159"/>
              </a:lnSpc>
            </a:pPr>
            <a:endParaRPr lang="en-US" sz="5113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247798" y="-428255"/>
            <a:ext cx="5447892" cy="1560941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651571" y="35331"/>
            <a:ext cx="602229" cy="818295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0" name="TextBox 10"/>
          <p:cNvSpPr txBox="1"/>
          <p:nvPr/>
        </p:nvSpPr>
        <p:spPr>
          <a:xfrm>
            <a:off x="393937" y="4187014"/>
            <a:ext cx="13807903" cy="132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368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Architectural Block Diagram</a:t>
            </a:r>
          </a:p>
          <a:p>
            <a:pPr marL="794545" lvl="1" indent="-397272" algn="l">
              <a:lnSpc>
                <a:spcPts val="5152"/>
              </a:lnSpc>
              <a:buFont typeface="Arial"/>
              <a:buChar char="•"/>
            </a:pPr>
            <a:r>
              <a:rPr lang="en-US" sz="368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insert pictures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33B864-8A06-5D42-8532-81E9AE8721E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40" y="853626"/>
            <a:ext cx="17741663" cy="93182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26A77CD-30FC-8DB3-DD48-BFCBEE8EE3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00" cy="100458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A1F5BB4-A2F8-F6A5-CED4-F897E3717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13079"/>
            <a:ext cx="8305800" cy="1013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924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814389" y="-321352"/>
            <a:ext cx="7895917" cy="1637141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89753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93709" y="2077843"/>
            <a:ext cx="17546493" cy="9623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01"/>
              </a:lnSpc>
            </a:pPr>
            <a:r>
              <a:rPr lang="en-US" sz="3572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Purpose of Blocks</a:t>
            </a:r>
          </a:p>
          <a:p>
            <a:pPr marL="385633" lvl="1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Block</a:t>
            </a:r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Loads and prepares the neural-network weights and input data.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Pruning Block</a:t>
            </a:r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Removes less important weights to create a sparse model.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RLE Compression Block</a:t>
            </a:r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Compresses consecutive zero weights to reduce storage.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Sparse Inference Block</a:t>
            </a:r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Processes only non-zero weights to reduce computation.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Block</a:t>
            </a:r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Produces the prediction and performance results.</a:t>
            </a:r>
          </a:p>
          <a:p>
            <a:pPr marL="771266" lvl="1" indent="-385633">
              <a:buFont typeface="Arial"/>
              <a:buChar char="•"/>
            </a:pPr>
            <a:endParaRPr lang="en-US" sz="32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71266" lvl="1" indent="-385633">
              <a:buFont typeface="Arial"/>
              <a:buChar char="•"/>
            </a:pPr>
            <a:r>
              <a:rPr lang="en-US" sz="3200" b="1" u="sng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IDEA BEHIND CHOOSING EACH BLOCK IN ARCHITECTURAL DIAGRAM AND WHAT ARE THE TRADE OFF OF YOUR ARCHITECTURAL CHOICE : </a:t>
            </a:r>
          </a:p>
          <a:p>
            <a:pPr marL="771266" lvl="1" indent="-385633">
              <a:buFont typeface="Arial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blocks are arranged to progressively reduce model size and computation: pruning creates sparsity, RLE reduces storage, and sparse inference avoids unnecessary operations. The main trade-off is that higher compression and sparsity can reduce memory and computation but may slightly affect accuracy and add encoding/decoding complexity.</a:t>
            </a:r>
            <a:endParaRPr lang="en-US" sz="3200" u="sng" dirty="0">
              <a:solidFill>
                <a:srgbClr val="000000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  <a:p>
            <a:pPr marL="771266" lvl="1" indent="-385633">
              <a:buFont typeface="Arial"/>
              <a:buChar char="•"/>
            </a:pPr>
            <a:endParaRPr lang="en-US" sz="3200" u="sng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71266" lvl="1" indent="-385633">
              <a:buFont typeface="Arial"/>
              <a:buChar char="•"/>
            </a:pPr>
            <a:endParaRPr lang="en-US" sz="3200" u="sng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71266" lvl="1" indent="-385633">
              <a:buFont typeface="Arial"/>
              <a:buChar char="•"/>
            </a:pPr>
            <a:endParaRPr lang="en-US" sz="3200" u="sng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71266" lvl="1" indent="-385633">
              <a:buFont typeface="Arial"/>
              <a:buChar char="•"/>
            </a:pPr>
            <a:endParaRPr lang="en-US" sz="3200" u="sng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771266" lvl="1" indent="-385633">
              <a:buFont typeface="Arial"/>
              <a:buChar char="•"/>
            </a:pPr>
            <a:endParaRPr lang="en-US" sz="3200" u="sng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ctr">
              <a:lnSpc>
                <a:spcPts val="5001"/>
              </a:lnSpc>
            </a:pPr>
            <a:endParaRPr lang="en-US" sz="3572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2036239" y="-456041"/>
            <a:ext cx="7591117" cy="2019047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268042" y="146866"/>
            <a:ext cx="772159" cy="1034234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A9B548-74D6-EC3A-93A5-2A9F1BE574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239" y="1213513"/>
            <a:ext cx="14405347" cy="89229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DD9F4D-52D9-D3ED-9BCB-A918FAD72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19100"/>
            <a:ext cx="15697200" cy="9753600"/>
          </a:xfrm>
          <a:prstGeom prst="rect">
            <a:avLst/>
          </a:prstGeom>
        </p:spPr>
      </p:pic>
      <p:sp>
        <p:nvSpPr>
          <p:cNvPr id="4" name="Freeform 5">
            <a:extLst>
              <a:ext uri="{FF2B5EF4-FFF2-40B4-BE49-F238E27FC236}">
                <a16:creationId xmlns:a16="http://schemas.microsoft.com/office/drawing/2014/main" id="{E99DE756-52BF-6F5C-E7CE-A7D7135301D0}"/>
              </a:ext>
            </a:extLst>
          </p:cNvPr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9CBFDC99-73BB-161F-3ECB-84C6365F5B69}"/>
              </a:ext>
            </a:extLst>
          </p:cNvPr>
          <p:cNvSpPr/>
          <p:nvPr/>
        </p:nvSpPr>
        <p:spPr>
          <a:xfrm>
            <a:off x="17268042" y="146866"/>
            <a:ext cx="772159" cy="1034234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3723" t="-76170" r="-689472" b="-85561"/>
            </a:stretch>
          </a:blipFill>
        </p:spPr>
      </p:sp>
    </p:spTree>
    <p:extLst>
      <p:ext uri="{BB962C8B-B14F-4D97-AF65-F5344CB8AC3E}">
        <p14:creationId xmlns:p14="http://schemas.microsoft.com/office/powerpoint/2010/main" val="35071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341" y="1890471"/>
            <a:ext cx="10899271" cy="1300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52"/>
              </a:lnSpc>
            </a:pPr>
            <a:r>
              <a:rPr lang="en-US" sz="3680" u="sng" dirty="0">
                <a:solidFill>
                  <a:srgbClr val="000000"/>
                </a:solidFill>
                <a:latin typeface="Horizon"/>
                <a:ea typeface="Horizon"/>
                <a:cs typeface="Horizon"/>
                <a:sym typeface="Horizon"/>
              </a:rPr>
              <a:t>RESEARCH AND REFERENCEs :</a:t>
            </a:r>
            <a:endParaRPr lang="en-US" sz="3680" b="1" u="sng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5152"/>
              </a:lnSpc>
            </a:pPr>
            <a:endParaRPr lang="en-US" sz="368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4AD60-4601-C5A8-D79E-85647E86094E}"/>
              </a:ext>
            </a:extLst>
          </p:cNvPr>
          <p:cNvSpPr txBox="1"/>
          <p:nvPr/>
        </p:nvSpPr>
        <p:spPr>
          <a:xfrm>
            <a:off x="1092675" y="2707431"/>
            <a:ext cx="9986749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MLP (Multi-Layer Perceptron)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baseline MLP training and evaluation.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Documentation </a:t>
            </a:r>
          </a:p>
          <a:p>
            <a:pPr lvl="0"/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Model Pruning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removing unnecessary weights and creating sparsity.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Pruning Tutorial 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Compression – Han et al.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reference for pruning and neural-network compression.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Compression Paper </a:t>
            </a: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– Sparse Data Structures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for sparse representation and efficient computation.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Documentation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4600883" y="-456041"/>
            <a:ext cx="8641637" cy="2621955"/>
          </a:xfrm>
          <a:custGeom>
            <a:avLst/>
            <a:gdLst/>
            <a:ahLst/>
            <a:cxnLst/>
            <a:rect l="l" t="t" r="r" b="b"/>
            <a:pathLst>
              <a:path w="8641637" h="2621955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86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5783" y="9121442"/>
            <a:ext cx="1165558" cy="1165558"/>
          </a:xfrm>
          <a:custGeom>
            <a:avLst/>
            <a:gdLst/>
            <a:ahLst/>
            <a:cxnLst/>
            <a:rect l="l" t="t" r="r" b="b"/>
            <a:pathLst>
              <a:path w="1165558" h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80462" y="968727"/>
            <a:ext cx="8924116" cy="9318273"/>
          </a:xfrm>
          <a:custGeom>
            <a:avLst/>
            <a:gdLst/>
            <a:ahLst/>
            <a:cxnLst/>
            <a:rect l="l" t="t" r="r" b="b"/>
            <a:pathLst>
              <a:path w="8924116" h="9318273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H="1" flipV="1">
            <a:off x="16306848" y="7955884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2341" y="-112715"/>
            <a:ext cx="1981152" cy="2331116"/>
          </a:xfrm>
          <a:custGeom>
            <a:avLst/>
            <a:gdLst/>
            <a:ahLst/>
            <a:cxnLst/>
            <a:rect l="l" t="t" r="r" b="b"/>
            <a:pathLst>
              <a:path w="1981152" h="2331116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835744" y="146866"/>
            <a:ext cx="1204458" cy="1416140"/>
          </a:xfrm>
          <a:custGeom>
            <a:avLst/>
            <a:gdLst/>
            <a:ahLst/>
            <a:cxnLst/>
            <a:rect l="l" t="t" r="r" b="b"/>
            <a:pathLst>
              <a:path w="1204458" h="1416140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3723" t="-76170" r="-689472" b="-8556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0231" y="2075011"/>
            <a:ext cx="17559971" cy="6332565"/>
          </a:xfrm>
          <a:custGeom>
            <a:avLst/>
            <a:gdLst/>
            <a:ahLst/>
            <a:cxnLst/>
            <a:rect l="l" t="t" r="r" b="b"/>
            <a:pathLst>
              <a:path w="17559971" h="6332565">
                <a:moveTo>
                  <a:pt x="0" y="0"/>
                </a:moveTo>
                <a:lnTo>
                  <a:pt x="17559971" y="0"/>
                </a:lnTo>
                <a:lnTo>
                  <a:pt x="17559971" y="6332564"/>
                </a:lnTo>
                <a:lnTo>
                  <a:pt x="0" y="63325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09"/>
              </a:lnSpc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873036" y="2611531"/>
            <a:ext cx="17167166" cy="5381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1.NO SLIDES SHOULD BE REUSED EXCEPT THE OUTPUT AND RESULT SLIDE (SLIDE 6) 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NOTE: MAXIMUM OF 10 SLIDES (NOT MORE THAN THAT)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endParaRPr lang="en-US" sz="2187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marL="472383" lvl="1" indent="-236192" algn="l">
              <a:lnSpc>
                <a:spcPts val="2384"/>
              </a:lnSpc>
              <a:spcBef>
                <a:spcPct val="0"/>
              </a:spcBef>
              <a:buAutoNum type="arabicPeriod"/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TRY TO EXPLAIN THE CONTENT IN PROBLEM STATEMENT SLIDE 2 AND THE SOLUTION SLIDE 3 IN A NEAT BULLET POINTS  AND TRY TO KEEP REST OF PRESENTATIONS WITH MINIMAL TEXT </a:t>
            </a:r>
          </a:p>
          <a:p>
            <a:pPr algn="l">
              <a:lnSpc>
                <a:spcPts val="2384"/>
              </a:lnSpc>
              <a:spcBef>
                <a:spcPct val="0"/>
              </a:spcBef>
            </a:pPr>
            <a:endParaRPr lang="en-US" sz="2187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3.KEEP YOUR EXPLANATION PRECISE AND EASY TO UNDERSTAND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endParaRPr lang="en-US" sz="2187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4.IDEA SHOULD BE UNIQUE AND NOVEL. 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endParaRPr lang="en-US" sz="2187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5.YOU CAN ONLY USE PROVIDED TEMPLATE FOR MAKING THE PPT WITHOUT CHANGING THE IDEA DETAILS POINTERS (MENTIONED IN PREVIOUS SLIDES).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endParaRPr lang="en-US" sz="2187" b="1">
              <a:solidFill>
                <a:srgbClr val="000000"/>
              </a:solidFill>
              <a:latin typeface="TS Qamus Bold"/>
              <a:ea typeface="TS Qamus Bold"/>
              <a:cs typeface="TS Qamus Bold"/>
              <a:sym typeface="TS Qamus Bold"/>
            </a:endParaRP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6.YOU NEED TO SAVE THE FILE IN PDF AND UPLOAD THE SAME ON GITHUB . WORD DOC OR ANY OTHER FORMAT WILL BE SUPPORTED 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.</a:t>
            </a:r>
          </a:p>
          <a:p>
            <a:pPr algn="ctr">
              <a:lnSpc>
                <a:spcPts val="2384"/>
              </a:lnSpc>
              <a:spcBef>
                <a:spcPct val="0"/>
              </a:spcBef>
            </a:pPr>
            <a:r>
              <a:rPr lang="en-US" sz="2187" b="1">
                <a:solidFill>
                  <a:srgbClr val="000000"/>
                </a:solidFill>
                <a:latin typeface="TS Qamus Bold"/>
                <a:ea typeface="TS Qamus Bold"/>
                <a:cs typeface="TS Qamus Bold"/>
                <a:sym typeface="TS Qamus Bold"/>
              </a:rPr>
              <a:t>NOTE - YOU CAN DELETE THIS SLIDE (IMPORTANT POINTERS) WHEN YOU UPLOAD THE DETAILS OF YOUR IDEA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560</Words>
  <Application>Microsoft Office PowerPoint</Application>
  <PresentationFormat>Custom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TS Qamus Bold</vt:lpstr>
      <vt:lpstr>Times New Roman MT Bold</vt:lpstr>
      <vt:lpstr>Times New Roman</vt:lpstr>
      <vt:lpstr>Arial</vt:lpstr>
      <vt:lpstr>Horizon</vt:lpstr>
      <vt:lpstr>Times New Roman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</dc:title>
  <dc:creator>Shyam.G.R</dc:creator>
  <cp:lastModifiedBy>SHYAM G R</cp:lastModifiedBy>
  <cp:revision>5</cp:revision>
  <dcterms:created xsi:type="dcterms:W3CDTF">2006-08-16T00:00:00Z</dcterms:created>
  <dcterms:modified xsi:type="dcterms:W3CDTF">2026-08-28T19:40:46Z</dcterms:modified>
  <dc:identifier>DAHTdevX50Q</dc:identifier>
</cp:coreProperties>
</file>